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7" r:id="rId4"/>
    <p:sldId id="259" r:id="rId5"/>
    <p:sldId id="258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553"/>
  </p:normalViewPr>
  <p:slideViewPr>
    <p:cSldViewPr snapToGrid="0">
      <p:cViewPr>
        <p:scale>
          <a:sx n="83" d="100"/>
          <a:sy n="83" d="100"/>
        </p:scale>
        <p:origin x="1792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8DA08-2562-C849-8B65-281077FC1DD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11900-BF3E-B34E-B904-F1451EB54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3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11900-BF3E-B34E-B904-F1451EB54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43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211900-BF3E-B34E-B904-F1451EB543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9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67FD-9EA0-2680-9712-1491468BE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61E38-957D-2EF4-D4B2-7EF46EFB4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99D4C-4088-EC6C-8979-46890277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E40D3-4E4F-932C-19FD-9F7BE4C7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D286-FEA8-7B0E-6C01-C44C9F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4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E402-E15E-1434-D174-140A205A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E080-69D0-D429-F8A8-70A3ED7F7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F88D9-4139-FE24-925E-3C5E0B97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0C807-E3F2-1746-E5FE-E17010FA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519C3-FCD8-BC5C-0613-8A050D0F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A3C2-9F92-DBE0-1643-657368AB3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E9C6D-7DDF-7C93-0ED7-0D928885F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E0B64-37B1-1D13-2E76-B829DF08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B6697-968C-F24F-D586-59BCAA20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1B94-1EC7-7B36-D2B9-C45862EA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8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D961-6D79-14C6-C8A2-9E9BAB33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9835-10BC-CAC4-DB30-94DA7588B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008AB-32ED-0DE3-741E-766421BF8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E4BC5-7F39-4CF8-9D54-2428635E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FB28B-3A16-190D-0FE7-CC829718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2E102-A0BF-4979-B16C-7CF540AB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1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83D9-4B3E-DC54-87FF-7446CA8E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85428-6445-41E8-F554-AAE9CEFC3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4B65E-39DE-98C2-A6FA-275E17F6A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2EF98-A146-31A2-F322-D13D7124D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F28A3-91F9-A13C-2310-CC0602239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58A4B-C795-D469-6CDF-EE4BDAFB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3C824-FAB5-9E69-9738-5A2BAA2E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873BB-497B-C781-1A87-8F49B0F3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6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C767-883A-12E2-52BC-173367C7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FFF1C-4456-9265-037D-DEB59452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452BC-54E6-B6DC-FF4F-057D9B6D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CA3BE-700B-DFB7-991D-FF4DE494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601D7-96BA-9F76-CC43-67DE2573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709FE-601C-B97E-411F-AFB1528B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F8F85-5CD2-DEF1-4833-35424FD5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3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503C-E19C-BAA9-4679-08C821F8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160C-CA2B-A413-0436-407BA658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4633C-6BAF-79B2-755F-25D22FD13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251B8-D24A-7F74-E782-635D0AE9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F53F1-F6B7-D682-F866-D85AEA9F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84EE5-ACE2-9508-CCB1-163F6F55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9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1F6-E5FD-13A3-461A-7F89D03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30261-9417-E11D-0D46-5165D7531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823C3-18CA-4BF0-170D-210B5917D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12F31-CD59-DB2E-5EB7-CAB97108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F8F0D-139B-399C-3BA9-9AA93FB0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CFFCA-3499-7162-40E3-45B4B7A5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3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87BE-C65E-3762-D0E4-08E5CD9F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64397-69F5-9F6D-417D-316FAE932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D2C2-1FA4-198E-B6D8-C7474012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4E4D-E715-4052-203E-4385102D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B6EA2-E731-C87C-2496-B1BD5056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ED2B0-ADE6-73A7-BFB9-6D4949CDD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B23A8-62E4-EBDA-AB8A-8AE6A1B5C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F272E-B3FB-60D7-2D04-1C991A09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CCAC-3F3F-5E00-41FB-ABDA0F9E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8571-A62A-E3F4-89B7-57E1E32B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6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9AD95-E23B-FEE2-6BC1-047FDA9E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1E742-B051-209D-D2CD-B473E031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99A4-ED50-CD61-040A-7AED2CF24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C5BF3-1229-8F43-A0AC-810DDB07815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15651-666F-4BE4-06FD-C99A36CE4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74D38-E09F-BCEB-E79D-96BC06B93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51653-FA0A-B747-9482-6AB7F3D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6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uchan2004" TargetMode="External"/><Relationship Id="rId2" Type="http://schemas.openxmlformats.org/officeDocument/2006/relationships/hyperlink" Target="mailto:fstemmer@mit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wcarpentry.github.io/shell-novice/01-intro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CTES/MIT-PraCTES" TargetMode="External"/><Relationship Id="rId2" Type="http://schemas.openxmlformats.org/officeDocument/2006/relationships/hyperlink" Target="https://swcarpentry.github.io/shell-novice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muxcheatshee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E9E1-923E-1B6B-EE3E-7CD3E2C5C4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30996" y="-30997"/>
            <a:ext cx="12321152" cy="7918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EFC5A6-E448-3E23-CDAF-C168AB8DE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General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0087D-2016-9A2C-4D9A-B96C4B253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Math Review 2026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Candara" panose="020E0502030303020204" pitchFamily="34" charset="0"/>
              </a:rPr>
              <a:t>Fadime Stemmer</a:t>
            </a:r>
          </a:p>
          <a:p>
            <a:pPr algn="l"/>
            <a:r>
              <a:rPr lang="en-US">
                <a:solidFill>
                  <a:schemeClr val="bg1"/>
                </a:solidFill>
                <a:latin typeface="Candara" panose="020E0502030303020204" pitchFamily="34" charset="0"/>
              </a:rPr>
              <a:t>07/13/2026</a:t>
            </a:r>
            <a:endParaRPr lang="en-US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48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62ED-16DF-670D-7D2B-71849745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A0EA-DA39-0912-3733-F39C4C4E5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36"/>
            <a:ext cx="68834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4th year in MC&amp;G </a:t>
            </a:r>
          </a:p>
          <a:p>
            <a:r>
              <a:rPr lang="en-US" sz="2400" dirty="0">
                <a:latin typeface="Candara" panose="020E0502030303020204" pitchFamily="34" charset="0"/>
              </a:rPr>
              <a:t>Saito Lab (come find me in Watson 117!)</a:t>
            </a:r>
          </a:p>
          <a:p>
            <a:r>
              <a:rPr lang="en-US" sz="2400" dirty="0">
                <a:latin typeface="Candara" panose="020E0502030303020204" pitchFamily="34" charset="0"/>
              </a:rPr>
              <a:t>Research:</a:t>
            </a:r>
          </a:p>
          <a:p>
            <a:pPr lvl="1"/>
            <a:r>
              <a:rPr lang="en-US" sz="2000" dirty="0">
                <a:latin typeface="Candara" panose="020E0502030303020204" pitchFamily="34" charset="0"/>
              </a:rPr>
              <a:t>(Metallo-)proteomics, Metaproteomics</a:t>
            </a:r>
          </a:p>
          <a:p>
            <a:pPr lvl="1"/>
            <a:r>
              <a:rPr lang="en-US" sz="2000" dirty="0">
                <a:latin typeface="Candara" panose="020E0502030303020204" pitchFamily="34" charset="0"/>
              </a:rPr>
              <a:t>Enzymatic POM digestion and metalloprotease characterization</a:t>
            </a:r>
          </a:p>
          <a:p>
            <a:r>
              <a:rPr lang="en-US" sz="2400" dirty="0">
                <a:latin typeface="Candara" panose="020E0502030303020204" pitchFamily="34" charset="0"/>
              </a:rPr>
              <a:t>E-Mail: </a:t>
            </a:r>
            <a:r>
              <a:rPr lang="en-US" sz="2400" dirty="0">
                <a:solidFill>
                  <a:srgbClr val="467886"/>
                </a:solidFill>
                <a:latin typeface="Candara" panose="020E0502030303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fstemmer@mit.edu</a:t>
            </a:r>
            <a:r>
              <a:rPr lang="en-US" sz="2400" dirty="0">
                <a:latin typeface="Candara" panose="020E0502030303020204" pitchFamily="34" charset="0"/>
              </a:rPr>
              <a:t>  </a:t>
            </a:r>
          </a:p>
          <a:p>
            <a:r>
              <a:rPr lang="en-US" sz="2400" dirty="0" err="1">
                <a:latin typeface="Candara" panose="020E0502030303020204" pitchFamily="34" charset="0"/>
              </a:rPr>
              <a:t>Github</a:t>
            </a:r>
            <a:r>
              <a:rPr lang="en-US" sz="2400" dirty="0">
                <a:latin typeface="Candara" panose="020E0502030303020204" pitchFamily="34" charset="0"/>
              </a:rPr>
              <a:t>:</a:t>
            </a:r>
            <a:r>
              <a:rPr lang="en-US" sz="2400" dirty="0">
                <a:latin typeface="Candara" panose="020E0502030303020204" pitchFamily="34" charset="0"/>
                <a:hlinkClick r:id="rId3"/>
              </a:rPr>
              <a:t> Fuchan2004 </a:t>
            </a:r>
            <a:endParaRPr lang="en-US" sz="2400" dirty="0"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99BB9-03AC-AB07-5367-9F7CD177A5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803"/>
          <a:stretch>
            <a:fillRect/>
          </a:stretch>
        </p:blipFill>
        <p:spPr>
          <a:xfrm>
            <a:off x="7187430" y="628290"/>
            <a:ext cx="4063872" cy="41287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3EFAD7-D751-CCD1-F200-C7E190B970D9}"/>
              </a:ext>
            </a:extLst>
          </p:cNvPr>
          <p:cNvSpPr txBox="1">
            <a:spLocks/>
          </p:cNvSpPr>
          <p:nvPr/>
        </p:nvSpPr>
        <p:spPr>
          <a:xfrm>
            <a:off x="4760447" y="4564781"/>
            <a:ext cx="40638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ndara" panose="020E0502030303020204" pitchFamily="34" charset="0"/>
              </a:rPr>
              <a:t>And you?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0B09EF-7518-6C6F-857E-FFB69BD30979}"/>
              </a:ext>
            </a:extLst>
          </p:cNvPr>
          <p:cNvSpPr txBox="1">
            <a:spLocks/>
          </p:cNvSpPr>
          <p:nvPr/>
        </p:nvSpPr>
        <p:spPr>
          <a:xfrm>
            <a:off x="519545" y="5591462"/>
            <a:ext cx="111529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atin typeface="Candara" panose="020E0502030303020204" pitchFamily="34" charset="0"/>
              </a:rPr>
              <a:t>Rounds of introduction! Name, Year, Where you are from, who you work with, </a:t>
            </a:r>
          </a:p>
          <a:p>
            <a:pPr marL="0" indent="0" algn="ctr">
              <a:buNone/>
            </a:pPr>
            <a:r>
              <a:rPr lang="en-US" sz="2400" dirty="0">
                <a:latin typeface="Candara" panose="020E0502030303020204" pitchFamily="34" charset="0"/>
              </a:rPr>
              <a:t>… and most importantly: favorite ice cream flavor!</a:t>
            </a:r>
          </a:p>
        </p:txBody>
      </p:sp>
    </p:spTree>
    <p:extLst>
      <p:ext uri="{BB962C8B-B14F-4D97-AF65-F5344CB8AC3E}">
        <p14:creationId xmlns:p14="http://schemas.microsoft.com/office/powerpoint/2010/main" val="383046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04BE-6425-7B94-549B-18DBD796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What is programming?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20191A-5EC1-1235-828E-A14CF46B9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08862"/>
              </p:ext>
            </p:extLst>
          </p:nvPr>
        </p:nvGraphicFramePr>
        <p:xfrm>
          <a:off x="621653" y="1646555"/>
          <a:ext cx="10515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816">
                  <a:extLst>
                    <a:ext uri="{9D8B030D-6E8A-4147-A177-3AD203B41FA5}">
                      <a16:colId xmlns:a16="http://schemas.microsoft.com/office/drawing/2014/main" val="3791937176"/>
                    </a:ext>
                  </a:extLst>
                </a:gridCol>
                <a:gridCol w="4462758">
                  <a:extLst>
                    <a:ext uri="{9D8B030D-6E8A-4147-A177-3AD203B41FA5}">
                      <a16:colId xmlns:a16="http://schemas.microsoft.com/office/drawing/2014/main" val="418860885"/>
                    </a:ext>
                  </a:extLst>
                </a:gridCol>
                <a:gridCol w="4070026">
                  <a:extLst>
                    <a:ext uri="{9D8B030D-6E8A-4147-A177-3AD203B41FA5}">
                      <a16:colId xmlns:a16="http://schemas.microsoft.com/office/drawing/2014/main" val="69489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Compiling Languages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Scripting Languages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23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Explanation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Human readable code (source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codE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) turned into non-human readable set of instructions to be carried out by a computer.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Processed with an interpreter rather than compiled. Require a program to run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07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Example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Example: C, C++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Example: Python, R, bash, MATLAB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932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Advantage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specific to computer, reusable as many times as 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Modifiable, no need for compiling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001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Disadvantage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Sometimes slower and less optimized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Sometimes slower and less optimized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526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70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554D-2CBF-1959-E3BA-BAA2D396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The CLI, Shell, bash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81F8-8B1F-36AD-A981-F37201B2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08"/>
            <a:ext cx="10515600" cy="5167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ndara" panose="020E0502030303020204" pitchFamily="34" charset="0"/>
              </a:rPr>
              <a:t>The Command Line Interface (CLI) </a:t>
            </a:r>
            <a:r>
              <a:rPr lang="en-US" dirty="0"/>
              <a:t>allows users to interact with a computer by reading and writing text. It excels at making repetitive tasks automatic and fast.</a:t>
            </a:r>
            <a:endParaRPr lang="en-US" b="1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ndara" panose="020E0502030303020204" pitchFamily="34" charset="0"/>
              </a:rPr>
              <a:t>Shell</a:t>
            </a:r>
            <a:r>
              <a:rPr lang="en-US" dirty="0">
                <a:latin typeface="Candara" panose="020E0502030303020204" pitchFamily="34" charset="0"/>
              </a:rPr>
              <a:t> is a program that takes commands you type and gets the operating system to run them. </a:t>
            </a:r>
          </a:p>
          <a:p>
            <a:pPr marL="0" indent="0">
              <a:buNone/>
            </a:pPr>
            <a:r>
              <a:rPr lang="en-US" b="1" dirty="0">
                <a:latin typeface="Candara" panose="020E0502030303020204" pitchFamily="34" charset="0"/>
              </a:rPr>
              <a:t>Bash</a:t>
            </a:r>
            <a:r>
              <a:rPr lang="en-US" dirty="0">
                <a:latin typeface="Candara" panose="020E0502030303020204" pitchFamily="34" charset="0"/>
              </a:rPr>
              <a:t> is one specific implementation of a shell. One program that does that job, with its own particular syntax and features.</a:t>
            </a:r>
          </a:p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There are several other shells that do the same basic job differently:</a:t>
            </a:r>
          </a:p>
          <a:p>
            <a:r>
              <a:rPr lang="en-US" b="1" dirty="0" err="1">
                <a:latin typeface="Candara" panose="020E0502030303020204" pitchFamily="34" charset="0"/>
              </a:rPr>
              <a:t>zsh</a:t>
            </a:r>
            <a:r>
              <a:rPr lang="en-US" dirty="0">
                <a:latin typeface="Candara" panose="020E0502030303020204" pitchFamily="34" charset="0"/>
              </a:rPr>
              <a:t> = macOS's current default, bash-like but with extra features (better autocomplete, plugins)</a:t>
            </a:r>
          </a:p>
          <a:p>
            <a:r>
              <a:rPr lang="en-US" b="1" dirty="0">
                <a:latin typeface="Candara" panose="020E0502030303020204" pitchFamily="34" charset="0"/>
              </a:rPr>
              <a:t>PowerShell</a:t>
            </a:r>
            <a:r>
              <a:rPr lang="en-US" dirty="0">
                <a:latin typeface="Candara" panose="020E0502030303020204" pitchFamily="34" charset="0"/>
              </a:rPr>
              <a:t> = Windows's native shell, works very differently (objects instead of text)</a:t>
            </a:r>
          </a:p>
          <a:p>
            <a:pPr marL="0" indent="0">
              <a:buNone/>
            </a:pPr>
            <a:endParaRPr lang="en-US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Learn how to use command line: </a:t>
            </a:r>
            <a:r>
              <a:rPr lang="en-US" dirty="0">
                <a:latin typeface="Candara" panose="020E0502030303020204" pitchFamily="34" charset="0"/>
                <a:hlinkClick r:id="rId3"/>
              </a:rPr>
              <a:t>https://swcarpentry.github.io/shell-novice/01-intro.html</a:t>
            </a:r>
            <a:r>
              <a:rPr 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570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7C94-FF9A-45EF-CAA5-FFC83F5B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High Performance Computer (HPC)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220FE-7958-1378-4AFE-6898EA6DE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41" y="1756304"/>
            <a:ext cx="618348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Software designed to work with the resources on an HPC environment and is unusable on a personal computer</a:t>
            </a:r>
          </a:p>
          <a:p>
            <a:pPr fontAlgn="ctr"/>
            <a:r>
              <a:rPr lang="en-US" dirty="0">
                <a:latin typeface="Candara" panose="020E0502030303020204" pitchFamily="34" charset="0"/>
              </a:rPr>
              <a:t>Data is big --&gt; HPC allows you to avoid issues with memory and to get the analysis done faster with better processing capacity </a:t>
            </a:r>
          </a:p>
          <a:p>
            <a:pPr fontAlgn="ctr"/>
            <a:r>
              <a:rPr lang="en-US" dirty="0">
                <a:latin typeface="Candara" panose="020E0502030303020204" pitchFamily="34" charset="0"/>
              </a:rPr>
              <a:t>Frees up your local computer (less storage requirement, less effort, etc.)</a:t>
            </a:r>
          </a:p>
          <a:p>
            <a:pPr fontAlgn="ctr"/>
            <a:r>
              <a:rPr lang="en-US" dirty="0">
                <a:latin typeface="Candara" panose="020E0502030303020204" pitchFamily="34" charset="0"/>
              </a:rPr>
              <a:t>Easier to parallelize your workflows</a:t>
            </a:r>
          </a:p>
          <a:p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4" name="Picture 3" descr="Compute Nodes &#10;Login Node &#10;File Server &#10;User &#10;Shared Disks ">
            <a:extLst>
              <a:ext uri="{FF2B5EF4-FFF2-40B4-BE49-F238E27FC236}">
                <a16:creationId xmlns:a16="http://schemas.microsoft.com/office/drawing/2014/main" id="{09C53AE0-4D87-6379-4B80-1AFE70BC9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84" y="2197675"/>
            <a:ext cx="5006075" cy="34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4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9658-2980-E4D9-8C5E-C5FD1CF2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64C5-090C-10EB-8B09-96B8A711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HPC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0165-C4CF-1E02-E42F-A5654E74D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41" y="1756304"/>
            <a:ext cx="6183489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Candara" panose="020E0502030303020204" pitchFamily="34" charset="0"/>
              </a:rPr>
              <a:t>Login Node </a:t>
            </a:r>
            <a:r>
              <a:rPr lang="en-US" dirty="0">
                <a:latin typeface="Candara" panose="020E0502030303020204" pitchFamily="34" charset="0"/>
              </a:rPr>
              <a:t>= entering the HPC computing environment from your local computer</a:t>
            </a:r>
          </a:p>
          <a:p>
            <a:pPr lvl="1"/>
            <a:r>
              <a:rPr lang="en-US" dirty="0">
                <a:latin typeface="Candara" panose="020E0502030303020204" pitchFamily="34" charset="0"/>
              </a:rPr>
              <a:t>Login node is only for navigating on the HPC</a:t>
            </a:r>
          </a:p>
          <a:p>
            <a:pPr lvl="1"/>
            <a:r>
              <a:rPr lang="en-US" dirty="0">
                <a:latin typeface="Candara" panose="020E0502030303020204" pitchFamily="34" charset="0"/>
              </a:rPr>
              <a:t>Never do computing on Login Node!</a:t>
            </a:r>
          </a:p>
          <a:p>
            <a:pPr lvl="1"/>
            <a:endParaRPr lang="en-US" dirty="0">
              <a:latin typeface="Candara" panose="020E0502030303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Compute Nodes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= Nodes with allocated memory and cores for running large computing</a:t>
            </a:r>
          </a:p>
          <a:p>
            <a:pPr lvl="1"/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4" name="Picture 3" descr="Compute Nodes &#10;Login Node &#10;File Server &#10;User &#10;Shared Disks ">
            <a:extLst>
              <a:ext uri="{FF2B5EF4-FFF2-40B4-BE49-F238E27FC236}">
                <a16:creationId xmlns:a16="http://schemas.microsoft.com/office/drawing/2014/main" id="{276EB722-8740-91E1-61C0-E9737C2D5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84" y="2197675"/>
            <a:ext cx="5006075" cy="34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8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6739-EED2-BFDD-32CA-E1FA6094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ndara" panose="020E0502030303020204" pitchFamily="34" charset="0"/>
              </a:rPr>
              <a:t>Github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48C7C-6911-D43A-8278-0C4D5FEB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ndara" panose="020E0502030303020204" pitchFamily="34" charset="0"/>
              </a:rPr>
              <a:t>= software that helps you </a:t>
            </a:r>
            <a:r>
              <a:rPr lang="en-US" b="1" dirty="0">
                <a:latin typeface="Candara" panose="020E0502030303020204" pitchFamily="34" charset="0"/>
              </a:rPr>
              <a:t>version control your code</a:t>
            </a:r>
            <a:r>
              <a:rPr lang="en-US" dirty="0">
                <a:latin typeface="Candara" panose="020E0502030303020204" pitchFamily="34" charset="0"/>
              </a:rPr>
              <a:t>. GitHub is a platform that integrates with git and helps you collaborate with others. Be aware: </a:t>
            </a:r>
          </a:p>
          <a:p>
            <a:r>
              <a:rPr lang="en-US" dirty="0">
                <a:latin typeface="Candara" panose="020E0502030303020204" pitchFamily="34" charset="0"/>
              </a:rPr>
              <a:t>Git is not an archival service</a:t>
            </a:r>
          </a:p>
          <a:p>
            <a:r>
              <a:rPr lang="en-US" dirty="0">
                <a:latin typeface="Candara" panose="020E0502030303020204" pitchFamily="34" charset="0"/>
              </a:rPr>
              <a:t>Git is not a good place to store data or data products (checkout </a:t>
            </a:r>
            <a:r>
              <a:rPr lang="en-US" dirty="0" err="1">
                <a:latin typeface="Candara" panose="020E0502030303020204" pitchFamily="34" charset="0"/>
                <a:hlinkClick r:id="rId3"/>
              </a:rPr>
              <a:t>Zenodo</a:t>
            </a:r>
            <a:r>
              <a:rPr lang="en-US" dirty="0">
                <a:latin typeface="Candara" panose="020E0502030303020204" pitchFamily="34" charset="0"/>
              </a:rPr>
              <a:t> or </a:t>
            </a:r>
            <a:r>
              <a:rPr lang="en-US" dirty="0" err="1">
                <a:latin typeface="Candara" panose="020E0502030303020204" pitchFamily="34" charset="0"/>
              </a:rPr>
              <a:t>OSF.io</a:t>
            </a:r>
            <a:r>
              <a:rPr lang="en-US" dirty="0">
                <a:latin typeface="Candara" panose="020E0502030303020204" pitchFamily="34" charset="0"/>
              </a:rPr>
              <a:t> instead)</a:t>
            </a:r>
          </a:p>
        </p:txBody>
      </p:sp>
    </p:spTree>
    <p:extLst>
      <p:ext uri="{BB962C8B-B14F-4D97-AF65-F5344CB8AC3E}">
        <p14:creationId xmlns:p14="http://schemas.microsoft.com/office/powerpoint/2010/main" val="67003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003D-7734-88E0-6EB8-B85B8BA1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More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0899-3D6D-FDFC-73E5-D963DD8E7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ndara" panose="020E0502030303020204" pitchFamily="34" charset="0"/>
              </a:rPr>
              <a:t>Environmental Bioinformatics (taught next in Fall 2027, Harriett Alexander, Maria </a:t>
            </a:r>
            <a:r>
              <a:rPr lang="en-US" dirty="0" err="1">
                <a:latin typeface="Candara" panose="020E0502030303020204" pitchFamily="34" charset="0"/>
              </a:rPr>
              <a:t>Pachiadaki</a:t>
            </a:r>
            <a:r>
              <a:rPr lang="en-US" dirty="0">
                <a:latin typeface="Candara" panose="020E0502030303020204" pitchFamily="34" charset="0"/>
              </a:rPr>
              <a:t>, Carolyn </a:t>
            </a:r>
            <a:r>
              <a:rPr lang="en-US" dirty="0" err="1">
                <a:latin typeface="Candara" panose="020E0502030303020204" pitchFamily="34" charset="0"/>
              </a:rPr>
              <a:t>Tepolt</a:t>
            </a:r>
            <a:r>
              <a:rPr lang="en-US" dirty="0">
                <a:latin typeface="Candara" panose="020E0502030303020204" pitchFamily="34" charset="0"/>
              </a:rPr>
              <a:t>) </a:t>
            </a:r>
          </a:p>
          <a:p>
            <a:r>
              <a:rPr lang="en-US" dirty="0">
                <a:latin typeface="Candara" panose="020E0502030303020204" pitchFamily="34" charset="0"/>
              </a:rPr>
              <a:t>Software Carpentries tutorials: </a:t>
            </a:r>
            <a:r>
              <a:rPr lang="en-US" dirty="0">
                <a:latin typeface="Candara" panose="020E0502030303020204" pitchFamily="34" charset="0"/>
                <a:hlinkClick r:id="rId2"/>
              </a:rPr>
              <a:t>https://swcarpentry.github.io/shell-novice/index.html</a:t>
            </a:r>
            <a:r>
              <a:rPr lang="en-US" dirty="0">
                <a:latin typeface="Candara" panose="020E0502030303020204" pitchFamily="34" charset="0"/>
              </a:rPr>
              <a:t> </a:t>
            </a:r>
          </a:p>
          <a:p>
            <a:r>
              <a:rPr lang="en-US" dirty="0">
                <a:latin typeface="Candara" panose="020E0502030303020204" pitchFamily="34" charset="0"/>
              </a:rPr>
              <a:t>MIT-</a:t>
            </a:r>
            <a:r>
              <a:rPr lang="en-US" dirty="0" err="1">
                <a:latin typeface="Candara" panose="020E0502030303020204" pitchFamily="34" charset="0"/>
              </a:rPr>
              <a:t>PraCTES</a:t>
            </a:r>
            <a:r>
              <a:rPr lang="en-US" dirty="0">
                <a:latin typeface="Candara" panose="020E0502030303020204" pitchFamily="34" charset="0"/>
              </a:rPr>
              <a:t> IAP workshop: </a:t>
            </a:r>
            <a:r>
              <a:rPr lang="en-US" dirty="0">
                <a:latin typeface="Candara" panose="020E0502030303020204" pitchFamily="34" charset="0"/>
                <a:hlinkClick r:id="rId3"/>
              </a:rPr>
              <a:t>https://github.com/PraCTES/MIT-PraCTES</a:t>
            </a:r>
            <a:r>
              <a:rPr lang="en-US" dirty="0">
                <a:latin typeface="Candara" panose="020E0502030303020204" pitchFamily="34" charset="0"/>
              </a:rPr>
              <a:t> </a:t>
            </a:r>
          </a:p>
          <a:p>
            <a:r>
              <a:rPr lang="en-US" dirty="0" err="1">
                <a:latin typeface="Candara" panose="020E0502030303020204" pitchFamily="34" charset="0"/>
              </a:rPr>
              <a:t>Tmux</a:t>
            </a:r>
            <a:r>
              <a:rPr lang="en-US" dirty="0">
                <a:latin typeface="Candara" panose="020E0502030303020204" pitchFamily="34" charset="0"/>
              </a:rPr>
              <a:t> cheat sheet: </a:t>
            </a:r>
            <a:r>
              <a:rPr lang="en-US" dirty="0">
                <a:latin typeface="Candara" panose="020E0502030303020204" pitchFamily="34" charset="0"/>
                <a:hlinkClick r:id="rId4"/>
              </a:rPr>
              <a:t>https://tmuxcheatsheet.com/</a:t>
            </a:r>
            <a:r>
              <a:rPr lang="en-US" dirty="0">
                <a:latin typeface="Candara" panose="020E0502030303020204" pitchFamily="34" charset="0"/>
              </a:rPr>
              <a:t> </a:t>
            </a:r>
          </a:p>
          <a:p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352F55-1A7F-6E4F-99CC-1C433D22C737}"/>
              </a:ext>
            </a:extLst>
          </p:cNvPr>
          <p:cNvSpPr txBox="1">
            <a:spLocks/>
          </p:cNvSpPr>
          <p:nvPr/>
        </p:nvSpPr>
        <p:spPr>
          <a:xfrm>
            <a:off x="838200" y="4859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Lets get programming! </a:t>
            </a:r>
          </a:p>
        </p:txBody>
      </p:sp>
    </p:spTree>
    <p:extLst>
      <p:ext uri="{BB962C8B-B14F-4D97-AF65-F5344CB8AC3E}">
        <p14:creationId xmlns:p14="http://schemas.microsoft.com/office/powerpoint/2010/main" val="182218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</TotalTime>
  <Words>544</Words>
  <Application>Microsoft Macintosh PowerPoint</Application>
  <PresentationFormat>Widescreen</PresentationFormat>
  <Paragraphs>62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Candara</vt:lpstr>
      <vt:lpstr>Office Theme</vt:lpstr>
      <vt:lpstr>General Programming</vt:lpstr>
      <vt:lpstr>About me</vt:lpstr>
      <vt:lpstr>What is programming?</vt:lpstr>
      <vt:lpstr>The CLI, Shell, bash</vt:lpstr>
      <vt:lpstr>High Performance Computer (HPC)</vt:lpstr>
      <vt:lpstr>HPC Rules</vt:lpstr>
      <vt:lpstr>Github</vt:lpstr>
      <vt:lpstr>More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Fadime Stemmer</dc:creator>
  <cp:lastModifiedBy>Fadime Stemmer</cp:lastModifiedBy>
  <cp:revision>2</cp:revision>
  <dcterms:created xsi:type="dcterms:W3CDTF">2026-07-12T13:47:32Z</dcterms:created>
  <dcterms:modified xsi:type="dcterms:W3CDTF">2026-07-13T14:05:51Z</dcterms:modified>
</cp:coreProperties>
</file>